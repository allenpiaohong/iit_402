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736657-215C-4E39-BCD3-334635B69553}" type="datetimeFigureOut">
              <a:rPr lang="zh-CN" altLang="en-US" smtClean="0"/>
              <a:t>2021/3/8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4AEC3-C7F7-47B8-87F9-0EAD44B29D8C}" type="slidenum">
              <a:rPr lang="zh-CN" altLang="en-US" smtClean="0"/>
              <a:t>‹#›</a:t>
            </a:fld>
            <a:endParaRPr lang="zh-CN" altLang="en-US"/>
          </a:p>
        </p:txBody>
      </p:sp>
    </p:spTree>
    <p:extLst>
      <p:ext uri="{BB962C8B-B14F-4D97-AF65-F5344CB8AC3E}">
        <p14:creationId xmlns:p14="http://schemas.microsoft.com/office/powerpoint/2010/main" val="3150780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44AEC3-C7F7-47B8-87F9-0EAD44B29D8C}" type="slidenum">
              <a:rPr lang="zh-CN" altLang="en-US" smtClean="0"/>
              <a:t>5</a:t>
            </a:fld>
            <a:endParaRPr lang="zh-CN" altLang="en-US"/>
          </a:p>
        </p:txBody>
      </p:sp>
    </p:spTree>
    <p:extLst>
      <p:ext uri="{BB962C8B-B14F-4D97-AF65-F5344CB8AC3E}">
        <p14:creationId xmlns:p14="http://schemas.microsoft.com/office/powerpoint/2010/main" val="2480947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FFE523-92F4-4031-B147-9090B8A217B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0A1DC9B-0624-426E-AFB4-E1718B3DB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A8388A-F693-4A77-9E59-C508E1231BBA}"/>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5" name="页脚占位符 4">
            <a:extLst>
              <a:ext uri="{FF2B5EF4-FFF2-40B4-BE49-F238E27FC236}">
                <a16:creationId xmlns:a16="http://schemas.microsoft.com/office/drawing/2014/main" id="{D796AA49-B744-4E3B-A47D-4095F893B1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70F52B-64AE-4DEF-8537-47D2AF1AE225}"/>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703722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349191-524B-4BFB-B5E2-11CF586FBFA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A98838-9273-41DF-A96C-2C5F7D00F2F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24E640-50C7-4A20-A44A-46B6B7E1A86A}"/>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5" name="页脚占位符 4">
            <a:extLst>
              <a:ext uri="{FF2B5EF4-FFF2-40B4-BE49-F238E27FC236}">
                <a16:creationId xmlns:a16="http://schemas.microsoft.com/office/drawing/2014/main" id="{81038C30-0DB4-4B07-962B-2B9BEA42B9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618D08-FD8C-4CF7-98A1-5D0F04EA14A5}"/>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2132387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1231B8-B8B7-48C3-9CFE-D03D47FFA6D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357D922-6A39-4713-B5C1-B964701182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C0442D0-67AA-4BB9-A75E-95963A9E3ED7}"/>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5" name="页脚占位符 4">
            <a:extLst>
              <a:ext uri="{FF2B5EF4-FFF2-40B4-BE49-F238E27FC236}">
                <a16:creationId xmlns:a16="http://schemas.microsoft.com/office/drawing/2014/main" id="{DD278199-5C6B-4710-BC90-194CE79726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32D036-DF16-4A4F-BFFC-6986620CCE87}"/>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4200023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39B81A-2E33-4633-9721-EFFF0DA6A94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6FFD31-5FCC-4B7C-A681-3CF0A5EE2E2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7AE8465-C1D3-40F2-B843-3665D9E2682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85C8E7B-BB00-4217-B5E1-ED3E0E141C36}"/>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6" name="页脚占位符 5">
            <a:extLst>
              <a:ext uri="{FF2B5EF4-FFF2-40B4-BE49-F238E27FC236}">
                <a16:creationId xmlns:a16="http://schemas.microsoft.com/office/drawing/2014/main" id="{011F89B0-C356-4D2C-BC86-BA41ACE5CC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331C63-6DC7-4C8D-A65B-E2A5C880CC53}"/>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654425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20A34-AF52-4E95-8F90-23C5252ABA4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5B98D58-4EEB-4EB9-BD09-60FAD05CC5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317F15F-00AC-4668-88B8-764FD60FEF4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10F539C-A2E3-497D-B27A-7E552F45B5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BB236E-41EA-4F1D-A7F3-42FA524164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243180C-350A-4EED-9C0A-CBFC52DCB434}"/>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8" name="页脚占位符 7">
            <a:extLst>
              <a:ext uri="{FF2B5EF4-FFF2-40B4-BE49-F238E27FC236}">
                <a16:creationId xmlns:a16="http://schemas.microsoft.com/office/drawing/2014/main" id="{B0421DD6-7F49-4C80-9E3B-FBEF2A4AEB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B0A5BE7-4D3D-4EAB-A9C8-02F57106A1D5}"/>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333811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DCA790-461D-4BB1-A6D9-9DAFB603A93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6BEE5F8-7A08-441A-A905-E03DE911D7ED}"/>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4" name="页脚占位符 3">
            <a:extLst>
              <a:ext uri="{FF2B5EF4-FFF2-40B4-BE49-F238E27FC236}">
                <a16:creationId xmlns:a16="http://schemas.microsoft.com/office/drawing/2014/main" id="{691A1333-8507-4745-83CE-06012537025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6CB4F69-F2E7-437E-AA03-3574E0BD6080}"/>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36833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5A99B0E-A088-42A0-9FA6-70BEF04BBDAD}"/>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3" name="页脚占位符 2">
            <a:extLst>
              <a:ext uri="{FF2B5EF4-FFF2-40B4-BE49-F238E27FC236}">
                <a16:creationId xmlns:a16="http://schemas.microsoft.com/office/drawing/2014/main" id="{8994BA2F-96A8-4455-B8BE-3103C80915D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401FCC8-CF1B-4359-83AC-E369D10059BF}"/>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1329420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0F07FC-C9D3-4102-B56C-62B965D71CC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A855106-5DF1-4055-B2CF-C45D9EE60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DCCFD74-BC41-48F0-802B-184E58D5D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7276A8-34D6-4795-9BEA-CC67CED3CA72}"/>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6" name="页脚占位符 5">
            <a:extLst>
              <a:ext uri="{FF2B5EF4-FFF2-40B4-BE49-F238E27FC236}">
                <a16:creationId xmlns:a16="http://schemas.microsoft.com/office/drawing/2014/main" id="{5CA27735-56EE-4EA3-9E48-D36D7438D8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6AA321D-1DA0-42B7-8B54-3ABF4332ED6C}"/>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1868474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D5AAB3-1A1D-40A9-A3F7-2EEA30A14D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6D20D2D-EB78-4732-B95C-0371E4716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B03ED9-B46A-4A6C-A41D-4E1E16E16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E80FABA-4A68-4545-A146-E9B2ECF54A5E}"/>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6" name="页脚占位符 5">
            <a:extLst>
              <a:ext uri="{FF2B5EF4-FFF2-40B4-BE49-F238E27FC236}">
                <a16:creationId xmlns:a16="http://schemas.microsoft.com/office/drawing/2014/main" id="{8AC2D730-1188-4F4F-8BEA-3581F0FAAED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7C4F7D3-65F6-4EF1-A086-97BF377AA422}"/>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4211467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6839B-D340-43A6-936D-EB47CC103B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69A7222-6241-4EF1-B8F2-C20493A15F4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7BA43E-B63B-4AA4-8434-7F5B3FEE7BB9}"/>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5" name="页脚占位符 4">
            <a:extLst>
              <a:ext uri="{FF2B5EF4-FFF2-40B4-BE49-F238E27FC236}">
                <a16:creationId xmlns:a16="http://schemas.microsoft.com/office/drawing/2014/main" id="{20B779E4-1B65-4439-94DD-D6EEAD7A50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887E75-E8BE-4966-B3E8-98C823D54B73}"/>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264826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A41EEC1-E89B-4856-8CA1-29FF2BC8799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881DCBB-EA51-4688-87AF-0946EAFFE5E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0FB861-451D-4B63-B314-C7A2F7488EAE}"/>
              </a:ext>
            </a:extLst>
          </p:cNvPr>
          <p:cNvSpPr>
            <a:spLocks noGrp="1"/>
          </p:cNvSpPr>
          <p:nvPr>
            <p:ph type="dt" sz="half" idx="10"/>
          </p:nvPr>
        </p:nvSpPr>
        <p:spPr/>
        <p:txBody>
          <a:bodyPr/>
          <a:lstStyle/>
          <a:p>
            <a:fld id="{3E004998-232D-40B9-8A95-CABE983C23CE}" type="datetimeFigureOut">
              <a:rPr lang="zh-CN" altLang="en-US" smtClean="0"/>
              <a:t>2021/3/8</a:t>
            </a:fld>
            <a:endParaRPr lang="zh-CN" altLang="en-US"/>
          </a:p>
        </p:txBody>
      </p:sp>
      <p:sp>
        <p:nvSpPr>
          <p:cNvPr id="5" name="页脚占位符 4">
            <a:extLst>
              <a:ext uri="{FF2B5EF4-FFF2-40B4-BE49-F238E27FC236}">
                <a16:creationId xmlns:a16="http://schemas.microsoft.com/office/drawing/2014/main" id="{62869ADC-5087-494B-8B34-F5F3BD001F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40EDD4-A377-438F-991B-558427624F3F}"/>
              </a:ext>
            </a:extLst>
          </p:cNvPr>
          <p:cNvSpPr>
            <a:spLocks noGrp="1"/>
          </p:cNvSpPr>
          <p:nvPr>
            <p:ph type="sldNum" sz="quarter" idx="12"/>
          </p:nvPr>
        </p:nvSpPr>
        <p:spPr/>
        <p:txBody>
          <a:body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1264044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F6D640B-63A9-4154-B831-B5D00633CC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85DFC46-4C29-4B09-9625-FFEB9DE032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7D1EEA1-FEC0-4A99-BFAA-2F040593E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004998-232D-40B9-8A95-CABE983C23CE}" type="datetimeFigureOut">
              <a:rPr lang="zh-CN" altLang="en-US" smtClean="0"/>
              <a:t>2021/3/8</a:t>
            </a:fld>
            <a:endParaRPr lang="zh-CN" altLang="en-US"/>
          </a:p>
        </p:txBody>
      </p:sp>
      <p:sp>
        <p:nvSpPr>
          <p:cNvPr id="5" name="页脚占位符 4">
            <a:extLst>
              <a:ext uri="{FF2B5EF4-FFF2-40B4-BE49-F238E27FC236}">
                <a16:creationId xmlns:a16="http://schemas.microsoft.com/office/drawing/2014/main" id="{F8CBD4F1-8296-4778-951A-2C5F6BA74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93AE5B2-775C-4BAE-84DD-BA2A995358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2CAFA-7EEA-495B-898B-A7A10C0B552B}" type="slidenum">
              <a:rPr lang="zh-CN" altLang="en-US" smtClean="0"/>
              <a:t>‹#›</a:t>
            </a:fld>
            <a:endParaRPr lang="zh-CN" altLang="en-US"/>
          </a:p>
        </p:txBody>
      </p:sp>
    </p:spTree>
    <p:extLst>
      <p:ext uri="{BB962C8B-B14F-4D97-AF65-F5344CB8AC3E}">
        <p14:creationId xmlns:p14="http://schemas.microsoft.com/office/powerpoint/2010/main" val="3637031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56AEE5-5D6F-46A3-A893-BF7C5456F165}"/>
              </a:ext>
            </a:extLst>
          </p:cNvPr>
          <p:cNvSpPr>
            <a:spLocks noGrp="1"/>
          </p:cNvSpPr>
          <p:nvPr>
            <p:ph type="ctrTitle"/>
          </p:nvPr>
        </p:nvSpPr>
        <p:spPr>
          <a:xfrm>
            <a:off x="-239152" y="1575581"/>
            <a:ext cx="12717195" cy="1154259"/>
          </a:xfrm>
        </p:spPr>
        <p:txBody>
          <a:bodyPr>
            <a:normAutofit/>
          </a:bodyPr>
          <a:lstStyle/>
          <a:p>
            <a:r>
              <a:rPr lang="en-US" altLang="zh-CN" sz="5400" dirty="0"/>
              <a:t>A Summarize of the Transformer Study</a:t>
            </a:r>
            <a:endParaRPr lang="zh-CN" altLang="en-US" sz="5400" dirty="0"/>
          </a:p>
        </p:txBody>
      </p:sp>
      <p:sp>
        <p:nvSpPr>
          <p:cNvPr id="3" name="副标题 2">
            <a:extLst>
              <a:ext uri="{FF2B5EF4-FFF2-40B4-BE49-F238E27FC236}">
                <a16:creationId xmlns:a16="http://schemas.microsoft.com/office/drawing/2014/main" id="{9EDEA2F7-C1A6-4EAD-BAB0-F0DE5D5F478F}"/>
              </a:ext>
            </a:extLst>
          </p:cNvPr>
          <p:cNvSpPr>
            <a:spLocks noGrp="1"/>
          </p:cNvSpPr>
          <p:nvPr>
            <p:ph type="subTitle" idx="1"/>
          </p:nvPr>
        </p:nvSpPr>
        <p:spPr>
          <a:xfrm>
            <a:off x="1200444" y="3429000"/>
            <a:ext cx="9144000" cy="977705"/>
          </a:xfrm>
        </p:spPr>
        <p:txBody>
          <a:bodyPr/>
          <a:lstStyle/>
          <a:p>
            <a:r>
              <a:rPr lang="en-US" altLang="zh-CN" dirty="0"/>
              <a:t>WANG PIAO HONG</a:t>
            </a:r>
            <a:endParaRPr lang="zh-CN" altLang="en-US" dirty="0"/>
          </a:p>
        </p:txBody>
      </p:sp>
    </p:spTree>
    <p:extLst>
      <p:ext uri="{BB962C8B-B14F-4D97-AF65-F5344CB8AC3E}">
        <p14:creationId xmlns:p14="http://schemas.microsoft.com/office/powerpoint/2010/main" val="1078672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19B6B5-03A7-41E1-9EE7-FEE1191B08B1}"/>
              </a:ext>
            </a:extLst>
          </p:cNvPr>
          <p:cNvSpPr>
            <a:spLocks noGrp="1"/>
          </p:cNvSpPr>
          <p:nvPr>
            <p:ph type="title"/>
          </p:nvPr>
        </p:nvSpPr>
        <p:spPr>
          <a:xfrm>
            <a:off x="0" y="880293"/>
            <a:ext cx="9003323" cy="730474"/>
          </a:xfrm>
        </p:spPr>
        <p:txBody>
          <a:bodyPr>
            <a:noAutofit/>
          </a:bodyPr>
          <a:lstStyle/>
          <a:p>
            <a:r>
              <a:rPr lang="en-US" altLang="zh-CN" sz="1600" dirty="0"/>
              <a:t>NEURAL MACHINE TRANSLATION BY JOINTLY LEARNING TO ALIGN AND TRANSLATE  ( </a:t>
            </a:r>
            <a:r>
              <a:rPr lang="en-US" altLang="zh-CN" sz="1800" dirty="0"/>
              <a:t>ICLR 2015)</a:t>
            </a:r>
            <a:endParaRPr lang="zh-CN" altLang="en-US" sz="1600" dirty="0"/>
          </a:p>
        </p:txBody>
      </p:sp>
      <p:sp>
        <p:nvSpPr>
          <p:cNvPr id="5" name="内容占位符 4">
            <a:extLst>
              <a:ext uri="{FF2B5EF4-FFF2-40B4-BE49-F238E27FC236}">
                <a16:creationId xmlns:a16="http://schemas.microsoft.com/office/drawing/2014/main" id="{E8CE85DB-595D-43D1-AF78-7C426C7BD400}"/>
              </a:ext>
            </a:extLst>
          </p:cNvPr>
          <p:cNvSpPr>
            <a:spLocks noGrp="1"/>
          </p:cNvSpPr>
          <p:nvPr>
            <p:ph idx="1"/>
          </p:nvPr>
        </p:nvSpPr>
        <p:spPr/>
        <p:txBody>
          <a:bodyPr>
            <a:normAutofit lnSpcReduction="10000"/>
          </a:bodyPr>
          <a:lstStyle/>
          <a:p>
            <a:r>
              <a:rPr lang="en-US" altLang="zh-CN" dirty="0"/>
              <a:t>The first paper about the attention idea.</a:t>
            </a:r>
          </a:p>
          <a:p>
            <a:r>
              <a:rPr lang="en-US" altLang="zh-CN" dirty="0"/>
              <a:t>Use the encoder-decoder architect</a:t>
            </a:r>
          </a:p>
          <a:p>
            <a:r>
              <a:rPr lang="en-US" altLang="zh-CN" dirty="0"/>
              <a:t>For the traditional translation method:</a:t>
            </a:r>
          </a:p>
          <a:p>
            <a:endParaRPr lang="en-US" altLang="zh-CN" dirty="0"/>
          </a:p>
          <a:p>
            <a:endParaRPr lang="en-US" altLang="zh-CN" dirty="0"/>
          </a:p>
          <a:p>
            <a:r>
              <a:rPr lang="en-US" altLang="zh-CN" dirty="0"/>
              <a:t>For the method mentioned in the paper:</a:t>
            </a:r>
          </a:p>
          <a:p>
            <a:pPr marL="0" indent="0">
              <a:buNone/>
            </a:pPr>
            <a:endParaRPr lang="en-US" altLang="zh-CN" dirty="0"/>
          </a:p>
          <a:p>
            <a:pPr marL="0" indent="0">
              <a:buNone/>
            </a:pPr>
            <a:r>
              <a:rPr lang="en-US" altLang="zh-CN" dirty="0"/>
              <a:t>   </a:t>
            </a:r>
          </a:p>
          <a:p>
            <a:pPr marL="0" indent="0">
              <a:buNone/>
            </a:pPr>
            <a:r>
              <a:rPr lang="en-US" altLang="zh-CN" dirty="0"/>
              <a:t>     </a:t>
            </a:r>
          </a:p>
        </p:txBody>
      </p:sp>
      <p:pic>
        <p:nvPicPr>
          <p:cNvPr id="7" name="图片 6">
            <a:extLst>
              <a:ext uri="{FF2B5EF4-FFF2-40B4-BE49-F238E27FC236}">
                <a16:creationId xmlns:a16="http://schemas.microsoft.com/office/drawing/2014/main" id="{9904F841-DEDF-406B-A530-4585F34DDA7E}"/>
              </a:ext>
            </a:extLst>
          </p:cNvPr>
          <p:cNvPicPr>
            <a:picLocks noChangeAspect="1"/>
          </p:cNvPicPr>
          <p:nvPr/>
        </p:nvPicPr>
        <p:blipFill>
          <a:blip r:embed="rId2"/>
          <a:stretch>
            <a:fillRect/>
          </a:stretch>
        </p:blipFill>
        <p:spPr>
          <a:xfrm>
            <a:off x="8215532" y="1790817"/>
            <a:ext cx="3465597" cy="4386146"/>
          </a:xfrm>
          <a:prstGeom prst="rect">
            <a:avLst/>
          </a:prstGeom>
        </p:spPr>
      </p:pic>
      <p:pic>
        <p:nvPicPr>
          <p:cNvPr id="9" name="图片 8">
            <a:extLst>
              <a:ext uri="{FF2B5EF4-FFF2-40B4-BE49-F238E27FC236}">
                <a16:creationId xmlns:a16="http://schemas.microsoft.com/office/drawing/2014/main" id="{9DA4E84C-C161-4698-8689-246438B53887}"/>
              </a:ext>
            </a:extLst>
          </p:cNvPr>
          <p:cNvPicPr>
            <a:picLocks noChangeAspect="1"/>
          </p:cNvPicPr>
          <p:nvPr/>
        </p:nvPicPr>
        <p:blipFill>
          <a:blip r:embed="rId3"/>
          <a:stretch>
            <a:fillRect/>
          </a:stretch>
        </p:blipFill>
        <p:spPr>
          <a:xfrm>
            <a:off x="1104225" y="3486853"/>
            <a:ext cx="4839375" cy="375212"/>
          </a:xfrm>
          <a:prstGeom prst="rect">
            <a:avLst/>
          </a:prstGeom>
        </p:spPr>
      </p:pic>
      <p:pic>
        <p:nvPicPr>
          <p:cNvPr id="11" name="图片 10">
            <a:extLst>
              <a:ext uri="{FF2B5EF4-FFF2-40B4-BE49-F238E27FC236}">
                <a16:creationId xmlns:a16="http://schemas.microsoft.com/office/drawing/2014/main" id="{91C46ABC-4A39-4BB5-AA0C-75AC85EB1072}"/>
              </a:ext>
            </a:extLst>
          </p:cNvPr>
          <p:cNvPicPr>
            <a:picLocks noChangeAspect="1"/>
          </p:cNvPicPr>
          <p:nvPr/>
        </p:nvPicPr>
        <p:blipFill>
          <a:blip r:embed="rId4"/>
          <a:stretch>
            <a:fillRect/>
          </a:stretch>
        </p:blipFill>
        <p:spPr>
          <a:xfrm>
            <a:off x="998467" y="4719990"/>
            <a:ext cx="2525445" cy="504895"/>
          </a:xfrm>
          <a:prstGeom prst="rect">
            <a:avLst/>
          </a:prstGeom>
        </p:spPr>
      </p:pic>
      <p:sp>
        <p:nvSpPr>
          <p:cNvPr id="13" name="文本框 12">
            <a:extLst>
              <a:ext uri="{FF2B5EF4-FFF2-40B4-BE49-F238E27FC236}">
                <a16:creationId xmlns:a16="http://schemas.microsoft.com/office/drawing/2014/main" id="{DC5B06AE-C2CD-4792-A1D3-34443920591E}"/>
              </a:ext>
            </a:extLst>
          </p:cNvPr>
          <p:cNvSpPr txBox="1"/>
          <p:nvPr/>
        </p:nvSpPr>
        <p:spPr>
          <a:xfrm>
            <a:off x="0" y="9111"/>
            <a:ext cx="9003323" cy="369332"/>
          </a:xfrm>
          <a:prstGeom prst="rect">
            <a:avLst/>
          </a:prstGeom>
          <a:noFill/>
        </p:spPr>
        <p:txBody>
          <a:bodyPr wrap="square" rtlCol="0">
            <a:spAutoFit/>
          </a:bodyPr>
          <a:lstStyle/>
          <a:p>
            <a:r>
              <a:rPr lang="en-US" altLang="zh-CN" dirty="0"/>
              <a:t>The introduction of Attention</a:t>
            </a:r>
            <a:endParaRPr lang="zh-CN" altLang="en-US" dirty="0"/>
          </a:p>
        </p:txBody>
      </p:sp>
    </p:spTree>
    <p:extLst>
      <p:ext uri="{BB962C8B-B14F-4D97-AF65-F5344CB8AC3E}">
        <p14:creationId xmlns:p14="http://schemas.microsoft.com/office/powerpoint/2010/main" val="3577004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7EEFE5-3E29-4F6D-8B13-43D8A3FE388A}"/>
              </a:ext>
            </a:extLst>
          </p:cNvPr>
          <p:cNvSpPr>
            <a:spLocks noGrp="1"/>
          </p:cNvSpPr>
          <p:nvPr>
            <p:ph type="title"/>
          </p:nvPr>
        </p:nvSpPr>
        <p:spPr>
          <a:xfrm>
            <a:off x="0" y="18255"/>
            <a:ext cx="10515600" cy="1325563"/>
          </a:xfrm>
        </p:spPr>
        <p:txBody>
          <a:bodyPr/>
          <a:lstStyle/>
          <a:p>
            <a:r>
              <a:rPr lang="en-US" altLang="zh-CN" dirty="0"/>
              <a:t>How</a:t>
            </a:r>
            <a:r>
              <a:rPr lang="zh-CN" altLang="en-US" dirty="0"/>
              <a:t> </a:t>
            </a:r>
            <a:r>
              <a:rPr lang="en-US" altLang="zh-CN" dirty="0"/>
              <a:t>to get the C</a:t>
            </a:r>
            <a:r>
              <a:rPr lang="en-US" altLang="zh-CN" baseline="-25000" dirty="0"/>
              <a:t>i</a:t>
            </a:r>
            <a:r>
              <a:rPr lang="zh-CN" altLang="en-US" dirty="0"/>
              <a:t> </a:t>
            </a:r>
            <a:r>
              <a:rPr lang="en-US" altLang="zh-CN" dirty="0"/>
              <a:t>?</a:t>
            </a:r>
            <a:endParaRPr lang="zh-CN" altLang="en-US" dirty="0"/>
          </a:p>
        </p:txBody>
      </p:sp>
      <p:pic>
        <p:nvPicPr>
          <p:cNvPr id="4" name="内容占位符 3">
            <a:extLst>
              <a:ext uri="{FF2B5EF4-FFF2-40B4-BE49-F238E27FC236}">
                <a16:creationId xmlns:a16="http://schemas.microsoft.com/office/drawing/2014/main" id="{266A113E-8F42-4125-9751-AB9B9411D21D}"/>
              </a:ext>
            </a:extLst>
          </p:cNvPr>
          <p:cNvPicPr>
            <a:picLocks noGrp="1" noChangeAspect="1"/>
          </p:cNvPicPr>
          <p:nvPr>
            <p:ph idx="1"/>
          </p:nvPr>
        </p:nvPicPr>
        <p:blipFill>
          <a:blip r:embed="rId2"/>
          <a:stretch>
            <a:fillRect/>
          </a:stretch>
        </p:blipFill>
        <p:spPr>
          <a:xfrm>
            <a:off x="8673084" y="1597125"/>
            <a:ext cx="3438094" cy="4351338"/>
          </a:xfrm>
          <a:prstGeom prst="rect">
            <a:avLst/>
          </a:prstGeom>
        </p:spPr>
      </p:pic>
      <p:sp>
        <p:nvSpPr>
          <p:cNvPr id="5" name="文本框 4">
            <a:extLst>
              <a:ext uri="{FF2B5EF4-FFF2-40B4-BE49-F238E27FC236}">
                <a16:creationId xmlns:a16="http://schemas.microsoft.com/office/drawing/2014/main" id="{DD28256D-CE22-4E71-9134-B654C4509552}"/>
              </a:ext>
            </a:extLst>
          </p:cNvPr>
          <p:cNvSpPr txBox="1"/>
          <p:nvPr/>
        </p:nvSpPr>
        <p:spPr>
          <a:xfrm>
            <a:off x="3790382" y="4400686"/>
            <a:ext cx="5824025" cy="1200329"/>
          </a:xfrm>
          <a:prstGeom prst="rect">
            <a:avLst/>
          </a:prstGeom>
          <a:noFill/>
        </p:spPr>
        <p:txBody>
          <a:bodyPr wrap="square" rtlCol="0">
            <a:spAutoFit/>
          </a:bodyPr>
          <a:lstStyle/>
          <a:p>
            <a:r>
              <a:rPr lang="en-US" altLang="zh-CN" dirty="0"/>
              <a:t>a is a feedforward neural network</a:t>
            </a:r>
          </a:p>
          <a:p>
            <a:endParaRPr lang="en-US" altLang="zh-CN" dirty="0"/>
          </a:p>
          <a:p>
            <a:endParaRPr lang="en-US" altLang="zh-CN" dirty="0"/>
          </a:p>
          <a:p>
            <a:endParaRPr lang="zh-CN" altLang="en-US" dirty="0"/>
          </a:p>
        </p:txBody>
      </p:sp>
      <p:pic>
        <p:nvPicPr>
          <p:cNvPr id="8" name="图片 7">
            <a:extLst>
              <a:ext uri="{FF2B5EF4-FFF2-40B4-BE49-F238E27FC236}">
                <a16:creationId xmlns:a16="http://schemas.microsoft.com/office/drawing/2014/main" id="{95333C02-38E3-4318-9E95-A3D299204E95}"/>
              </a:ext>
            </a:extLst>
          </p:cNvPr>
          <p:cNvPicPr>
            <a:picLocks noChangeAspect="1"/>
          </p:cNvPicPr>
          <p:nvPr/>
        </p:nvPicPr>
        <p:blipFill>
          <a:blip r:embed="rId3"/>
          <a:stretch>
            <a:fillRect/>
          </a:stretch>
        </p:blipFill>
        <p:spPr>
          <a:xfrm>
            <a:off x="144235" y="1234027"/>
            <a:ext cx="2562583" cy="1095528"/>
          </a:xfrm>
          <a:prstGeom prst="rect">
            <a:avLst/>
          </a:prstGeom>
        </p:spPr>
      </p:pic>
      <p:sp>
        <p:nvSpPr>
          <p:cNvPr id="9" name="文本框 8">
            <a:extLst>
              <a:ext uri="{FF2B5EF4-FFF2-40B4-BE49-F238E27FC236}">
                <a16:creationId xmlns:a16="http://schemas.microsoft.com/office/drawing/2014/main" id="{92843D5A-7489-478B-A146-EB068653236E}"/>
              </a:ext>
            </a:extLst>
          </p:cNvPr>
          <p:cNvSpPr txBox="1"/>
          <p:nvPr/>
        </p:nvSpPr>
        <p:spPr>
          <a:xfrm>
            <a:off x="3790382" y="1597125"/>
            <a:ext cx="4847533" cy="369332"/>
          </a:xfrm>
          <a:prstGeom prst="rect">
            <a:avLst/>
          </a:prstGeom>
          <a:noFill/>
        </p:spPr>
        <p:txBody>
          <a:bodyPr wrap="square" rtlCol="0">
            <a:spAutoFit/>
          </a:bodyPr>
          <a:lstStyle/>
          <a:p>
            <a:r>
              <a:rPr lang="en-US" altLang="zh-CN" dirty="0"/>
              <a:t>Ci is a weighted sum of annotations h</a:t>
            </a:r>
            <a:endParaRPr lang="zh-CN" altLang="en-US" dirty="0"/>
          </a:p>
        </p:txBody>
      </p:sp>
      <p:pic>
        <p:nvPicPr>
          <p:cNvPr id="13" name="图片 12">
            <a:extLst>
              <a:ext uri="{FF2B5EF4-FFF2-40B4-BE49-F238E27FC236}">
                <a16:creationId xmlns:a16="http://schemas.microsoft.com/office/drawing/2014/main" id="{FDE004CC-C886-41D6-B0CB-B83C399E3D6B}"/>
              </a:ext>
            </a:extLst>
          </p:cNvPr>
          <p:cNvPicPr>
            <a:picLocks noChangeAspect="1"/>
          </p:cNvPicPr>
          <p:nvPr/>
        </p:nvPicPr>
        <p:blipFill>
          <a:blip r:embed="rId4"/>
          <a:stretch>
            <a:fillRect/>
          </a:stretch>
        </p:blipFill>
        <p:spPr>
          <a:xfrm>
            <a:off x="469537" y="2559590"/>
            <a:ext cx="1982161" cy="600159"/>
          </a:xfrm>
          <a:prstGeom prst="rect">
            <a:avLst/>
          </a:prstGeom>
        </p:spPr>
      </p:pic>
      <p:sp>
        <p:nvSpPr>
          <p:cNvPr id="14" name="文本框 13">
            <a:extLst>
              <a:ext uri="{FF2B5EF4-FFF2-40B4-BE49-F238E27FC236}">
                <a16:creationId xmlns:a16="http://schemas.microsoft.com/office/drawing/2014/main" id="{ECB76B02-7026-44EF-9806-A2507D6A9BD3}"/>
              </a:ext>
            </a:extLst>
          </p:cNvPr>
          <p:cNvSpPr txBox="1"/>
          <p:nvPr/>
        </p:nvSpPr>
        <p:spPr>
          <a:xfrm>
            <a:off x="3790382" y="2660071"/>
            <a:ext cx="3812344" cy="369332"/>
          </a:xfrm>
          <a:prstGeom prst="rect">
            <a:avLst/>
          </a:prstGeom>
          <a:noFill/>
        </p:spPr>
        <p:txBody>
          <a:bodyPr wrap="square" rtlCol="0">
            <a:spAutoFit/>
          </a:bodyPr>
          <a:lstStyle/>
          <a:p>
            <a:r>
              <a:rPr lang="en-US" altLang="zh-CN" dirty="0"/>
              <a:t>H is the hidden state of </a:t>
            </a:r>
            <a:r>
              <a:rPr lang="en-US" altLang="zh-CN" dirty="0" err="1"/>
              <a:t>BiRNN</a:t>
            </a:r>
            <a:endParaRPr lang="zh-CN" altLang="en-US" dirty="0"/>
          </a:p>
        </p:txBody>
      </p:sp>
      <p:pic>
        <p:nvPicPr>
          <p:cNvPr id="17" name="图片 16">
            <a:extLst>
              <a:ext uri="{FF2B5EF4-FFF2-40B4-BE49-F238E27FC236}">
                <a16:creationId xmlns:a16="http://schemas.microsoft.com/office/drawing/2014/main" id="{06EC4EE4-3966-4309-99CB-6728AA441C13}"/>
              </a:ext>
            </a:extLst>
          </p:cNvPr>
          <p:cNvPicPr>
            <a:picLocks noChangeAspect="1"/>
          </p:cNvPicPr>
          <p:nvPr/>
        </p:nvPicPr>
        <p:blipFill>
          <a:blip r:embed="rId5"/>
          <a:stretch>
            <a:fillRect/>
          </a:stretch>
        </p:blipFill>
        <p:spPr>
          <a:xfrm>
            <a:off x="274558" y="3429000"/>
            <a:ext cx="2800741" cy="971686"/>
          </a:xfrm>
          <a:prstGeom prst="rect">
            <a:avLst/>
          </a:prstGeom>
        </p:spPr>
      </p:pic>
      <p:pic>
        <p:nvPicPr>
          <p:cNvPr id="19" name="图片 18">
            <a:extLst>
              <a:ext uri="{FF2B5EF4-FFF2-40B4-BE49-F238E27FC236}">
                <a16:creationId xmlns:a16="http://schemas.microsoft.com/office/drawing/2014/main" id="{7E439521-32C0-4A2F-821A-6C47453B6F8A}"/>
              </a:ext>
            </a:extLst>
          </p:cNvPr>
          <p:cNvPicPr>
            <a:picLocks noChangeAspect="1"/>
          </p:cNvPicPr>
          <p:nvPr/>
        </p:nvPicPr>
        <p:blipFill>
          <a:blip r:embed="rId6"/>
          <a:stretch>
            <a:fillRect/>
          </a:stretch>
        </p:blipFill>
        <p:spPr>
          <a:xfrm>
            <a:off x="369699" y="4669937"/>
            <a:ext cx="2353003" cy="657317"/>
          </a:xfrm>
          <a:prstGeom prst="rect">
            <a:avLst/>
          </a:prstGeom>
        </p:spPr>
      </p:pic>
    </p:spTree>
    <p:extLst>
      <p:ext uri="{BB962C8B-B14F-4D97-AF65-F5344CB8AC3E}">
        <p14:creationId xmlns:p14="http://schemas.microsoft.com/office/powerpoint/2010/main" val="3619077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653E92-E93E-4B22-8F15-2EEF610609C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2222B92-6281-4268-BD9E-F870E3C63D65}"/>
              </a:ext>
            </a:extLst>
          </p:cNvPr>
          <p:cNvSpPr>
            <a:spLocks noGrp="1"/>
          </p:cNvSpPr>
          <p:nvPr>
            <p:ph idx="1"/>
          </p:nvPr>
        </p:nvSpPr>
        <p:spPr>
          <a:xfrm>
            <a:off x="191086" y="1958657"/>
            <a:ext cx="10515600" cy="4351338"/>
          </a:xfrm>
        </p:spPr>
        <p:txBody>
          <a:bodyPr/>
          <a:lstStyle/>
          <a:p>
            <a:pPr marL="0" indent="0">
              <a:buNone/>
            </a:pPr>
            <a:endParaRPr lang="en-US" altLang="zh-CN" dirty="0"/>
          </a:p>
          <a:p>
            <a:pPr marL="0" indent="0">
              <a:buNone/>
            </a:pPr>
            <a:r>
              <a:rPr lang="en-US" altLang="zh-CN" dirty="0"/>
              <a:t>     The origin architect of transformer (Attention is all your need)</a:t>
            </a:r>
          </a:p>
          <a:p>
            <a:pPr marL="0" indent="0">
              <a:buNone/>
            </a:pPr>
            <a:endParaRPr lang="zh-CN" altLang="en-US" dirty="0"/>
          </a:p>
        </p:txBody>
      </p:sp>
      <p:pic>
        <p:nvPicPr>
          <p:cNvPr id="4" name="图片 3">
            <a:extLst>
              <a:ext uri="{FF2B5EF4-FFF2-40B4-BE49-F238E27FC236}">
                <a16:creationId xmlns:a16="http://schemas.microsoft.com/office/drawing/2014/main" id="{55E8C961-45D9-4753-9054-63245A9C88E6}"/>
              </a:ext>
            </a:extLst>
          </p:cNvPr>
          <p:cNvPicPr>
            <a:picLocks noChangeAspect="1"/>
          </p:cNvPicPr>
          <p:nvPr/>
        </p:nvPicPr>
        <p:blipFill>
          <a:blip r:embed="rId2"/>
          <a:stretch>
            <a:fillRect/>
          </a:stretch>
        </p:blipFill>
        <p:spPr>
          <a:xfrm>
            <a:off x="9260058" y="3064937"/>
            <a:ext cx="2893255" cy="3717649"/>
          </a:xfrm>
          <a:prstGeom prst="rect">
            <a:avLst/>
          </a:prstGeom>
        </p:spPr>
      </p:pic>
    </p:spTree>
    <p:extLst>
      <p:ext uri="{BB962C8B-B14F-4D97-AF65-F5344CB8AC3E}">
        <p14:creationId xmlns:p14="http://schemas.microsoft.com/office/powerpoint/2010/main" val="514615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A45B72-354B-48A7-9394-0C194CB2A9B8}"/>
              </a:ext>
            </a:extLst>
          </p:cNvPr>
          <p:cNvSpPr>
            <a:spLocks noGrp="1"/>
          </p:cNvSpPr>
          <p:nvPr>
            <p:ph type="title"/>
          </p:nvPr>
        </p:nvSpPr>
        <p:spPr>
          <a:xfrm>
            <a:off x="0" y="0"/>
            <a:ext cx="12023188" cy="846626"/>
          </a:xfrm>
        </p:spPr>
        <p:txBody>
          <a:bodyPr>
            <a:normAutofit fontScale="90000"/>
          </a:bodyPr>
          <a:lstStyle/>
          <a:p>
            <a:br>
              <a:rPr lang="en-US" altLang="zh-CN" dirty="0"/>
            </a:br>
            <a:endParaRPr lang="zh-CN" altLang="en-US" dirty="0"/>
          </a:p>
        </p:txBody>
      </p:sp>
      <p:sp>
        <p:nvSpPr>
          <p:cNvPr id="3" name="内容占位符 2">
            <a:extLst>
              <a:ext uri="{FF2B5EF4-FFF2-40B4-BE49-F238E27FC236}">
                <a16:creationId xmlns:a16="http://schemas.microsoft.com/office/drawing/2014/main" id="{F10A7524-2AA9-41C4-9FD1-41091D795EF5}"/>
              </a:ext>
            </a:extLst>
          </p:cNvPr>
          <p:cNvSpPr>
            <a:spLocks noGrp="1"/>
          </p:cNvSpPr>
          <p:nvPr>
            <p:ph idx="1"/>
          </p:nvPr>
        </p:nvSpPr>
        <p:spPr>
          <a:xfrm>
            <a:off x="0" y="21808"/>
            <a:ext cx="10684412" cy="6836192"/>
          </a:xfrm>
        </p:spPr>
        <p:txBody>
          <a:bodyPr/>
          <a:lstStyle/>
          <a:p>
            <a:pPr marL="0" indent="0">
              <a:buNone/>
            </a:pPr>
            <a:endParaRPr lang="en-US" altLang="zh-CN" dirty="0"/>
          </a:p>
          <a:p>
            <a:pPr marL="0" indent="0">
              <a:buNone/>
            </a:pPr>
            <a:endParaRPr lang="en-US" altLang="zh-CN" dirty="0"/>
          </a:p>
          <a:p>
            <a:pPr marL="0" indent="0">
              <a:buNone/>
            </a:pPr>
            <a:r>
              <a:rPr lang="en-US" altLang="zh-CN" dirty="0"/>
              <a:t>                                                                        </a:t>
            </a:r>
          </a:p>
          <a:p>
            <a:pPr marL="0" indent="0">
              <a:buNone/>
            </a:pPr>
            <a:endParaRPr lang="en-US" altLang="zh-CN" dirty="0"/>
          </a:p>
          <a:p>
            <a:pPr marL="0" indent="0">
              <a:buNone/>
            </a:pPr>
            <a:endParaRPr lang="en-US" altLang="zh-CN" dirty="0"/>
          </a:p>
          <a:p>
            <a:pPr marL="0" indent="0">
              <a:buNone/>
            </a:pPr>
            <a:r>
              <a:rPr lang="zh-CN" altLang="en-US" dirty="0"/>
              <a:t>    </a:t>
            </a:r>
            <a:endParaRPr lang="en-US" altLang="zh-CN" dirty="0"/>
          </a:p>
          <a:p>
            <a:pPr marL="0" indent="0">
              <a:buNone/>
            </a:pPr>
            <a:r>
              <a:rPr lang="en-US" altLang="zh-CN" dirty="0"/>
              <a:t>   </a:t>
            </a:r>
          </a:p>
          <a:p>
            <a:pPr marL="0" indent="0">
              <a:buNone/>
            </a:pPr>
            <a:r>
              <a:rPr lang="en-US" altLang="zh-CN" dirty="0"/>
              <a:t>    </a:t>
            </a:r>
          </a:p>
        </p:txBody>
      </p:sp>
      <p:pic>
        <p:nvPicPr>
          <p:cNvPr id="7" name="图片 6">
            <a:extLst>
              <a:ext uri="{FF2B5EF4-FFF2-40B4-BE49-F238E27FC236}">
                <a16:creationId xmlns:a16="http://schemas.microsoft.com/office/drawing/2014/main" id="{624496C6-757B-4636-B3A9-3712ECD1F1C9}"/>
              </a:ext>
            </a:extLst>
          </p:cNvPr>
          <p:cNvPicPr>
            <a:picLocks noChangeAspect="1"/>
          </p:cNvPicPr>
          <p:nvPr/>
        </p:nvPicPr>
        <p:blipFill>
          <a:blip r:embed="rId3"/>
          <a:stretch>
            <a:fillRect/>
          </a:stretch>
        </p:blipFill>
        <p:spPr>
          <a:xfrm>
            <a:off x="8074548" y="1406049"/>
            <a:ext cx="3660253" cy="4054275"/>
          </a:xfrm>
          <a:prstGeom prst="rect">
            <a:avLst/>
          </a:prstGeom>
        </p:spPr>
      </p:pic>
      <p:sp>
        <p:nvSpPr>
          <p:cNvPr id="13" name="文本框 12">
            <a:extLst>
              <a:ext uri="{FF2B5EF4-FFF2-40B4-BE49-F238E27FC236}">
                <a16:creationId xmlns:a16="http://schemas.microsoft.com/office/drawing/2014/main" id="{070E732B-AEFE-4BC7-892D-138079B6C4D3}"/>
              </a:ext>
            </a:extLst>
          </p:cNvPr>
          <p:cNvSpPr txBox="1"/>
          <p:nvPr/>
        </p:nvSpPr>
        <p:spPr>
          <a:xfrm>
            <a:off x="192226" y="1636450"/>
            <a:ext cx="6989414" cy="2031325"/>
          </a:xfrm>
          <a:prstGeom prst="rect">
            <a:avLst/>
          </a:prstGeom>
          <a:noFill/>
        </p:spPr>
        <p:txBody>
          <a:bodyPr wrap="none" rtlCol="0">
            <a:spAutoFit/>
          </a:bodyPr>
          <a:lstStyle/>
          <a:p>
            <a:r>
              <a:rPr lang="en-US" altLang="zh-CN" dirty="0"/>
              <a:t>Q is the matrix of queues. Each queue is the vector of a source word </a:t>
            </a:r>
          </a:p>
          <a:p>
            <a:endParaRPr lang="en-US" altLang="zh-CN" dirty="0"/>
          </a:p>
          <a:p>
            <a:r>
              <a:rPr lang="en-US" altLang="zh-CN" dirty="0"/>
              <a:t>K is the matrix of  keys. Each key is the vector of  a target word</a:t>
            </a:r>
          </a:p>
          <a:p>
            <a:endParaRPr lang="en-US" altLang="zh-CN" dirty="0"/>
          </a:p>
          <a:p>
            <a:r>
              <a:rPr lang="en-US" altLang="zh-CN" dirty="0"/>
              <a:t>V is the matrix of values. Each value is assigned to a queue.</a:t>
            </a:r>
          </a:p>
          <a:p>
            <a:endParaRPr lang="en-US" altLang="zh-CN" dirty="0"/>
          </a:p>
          <a:p>
            <a:r>
              <a:rPr lang="en-US" altLang="zh-CN" dirty="0"/>
              <a:t>Dk is the dimension of  queue and key</a:t>
            </a:r>
            <a:endParaRPr lang="zh-CN" altLang="en-US" dirty="0"/>
          </a:p>
        </p:txBody>
      </p:sp>
      <p:pic>
        <p:nvPicPr>
          <p:cNvPr id="15" name="图片 14">
            <a:extLst>
              <a:ext uri="{FF2B5EF4-FFF2-40B4-BE49-F238E27FC236}">
                <a16:creationId xmlns:a16="http://schemas.microsoft.com/office/drawing/2014/main" id="{E92562C4-3539-4847-B2CD-15014339F23A}"/>
              </a:ext>
            </a:extLst>
          </p:cNvPr>
          <p:cNvPicPr>
            <a:picLocks noChangeAspect="1"/>
          </p:cNvPicPr>
          <p:nvPr/>
        </p:nvPicPr>
        <p:blipFill>
          <a:blip r:embed="rId4"/>
          <a:stretch>
            <a:fillRect/>
          </a:stretch>
        </p:blipFill>
        <p:spPr>
          <a:xfrm>
            <a:off x="11606" y="344124"/>
            <a:ext cx="4105848" cy="1076475"/>
          </a:xfrm>
          <a:prstGeom prst="rect">
            <a:avLst/>
          </a:prstGeom>
        </p:spPr>
      </p:pic>
      <p:sp>
        <p:nvSpPr>
          <p:cNvPr id="16" name="文本框 15">
            <a:extLst>
              <a:ext uri="{FF2B5EF4-FFF2-40B4-BE49-F238E27FC236}">
                <a16:creationId xmlns:a16="http://schemas.microsoft.com/office/drawing/2014/main" id="{5135AE44-8277-4D4C-A747-C4EA9550893E}"/>
              </a:ext>
            </a:extLst>
          </p:cNvPr>
          <p:cNvSpPr txBox="1"/>
          <p:nvPr/>
        </p:nvSpPr>
        <p:spPr>
          <a:xfrm>
            <a:off x="192226" y="3883627"/>
            <a:ext cx="6391454" cy="3139321"/>
          </a:xfrm>
          <a:prstGeom prst="rect">
            <a:avLst/>
          </a:prstGeom>
          <a:noFill/>
        </p:spPr>
        <p:txBody>
          <a:bodyPr wrap="square" rtlCol="0">
            <a:spAutoFit/>
          </a:bodyPr>
          <a:lstStyle/>
          <a:p>
            <a:r>
              <a:rPr lang="en-US" altLang="zh-CN" dirty="0"/>
              <a:t>The SoftMax result of the scaling product of Q and K can be used to calculate the similarity of Q and K,  and the similarity is used as the weight of assigning different keys’ value. It is called </a:t>
            </a:r>
          </a:p>
          <a:p>
            <a:r>
              <a:rPr lang="en-US" altLang="zh-CN" dirty="0"/>
              <a:t>Dot attention.</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2784946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E095117D-C066-4724-AC4B-94811C470943}"/>
              </a:ext>
            </a:extLst>
          </p:cNvPr>
          <p:cNvPicPr>
            <a:picLocks noGrp="1" noChangeAspect="1"/>
          </p:cNvPicPr>
          <p:nvPr>
            <p:ph idx="1"/>
          </p:nvPr>
        </p:nvPicPr>
        <p:blipFill>
          <a:blip r:embed="rId2"/>
          <a:stretch>
            <a:fillRect/>
          </a:stretch>
        </p:blipFill>
        <p:spPr>
          <a:xfrm>
            <a:off x="8953048" y="1895648"/>
            <a:ext cx="3238952" cy="3648584"/>
          </a:xfrm>
        </p:spPr>
      </p:pic>
      <p:sp>
        <p:nvSpPr>
          <p:cNvPr id="8" name="文本框 7">
            <a:extLst>
              <a:ext uri="{FF2B5EF4-FFF2-40B4-BE49-F238E27FC236}">
                <a16:creationId xmlns:a16="http://schemas.microsoft.com/office/drawing/2014/main" id="{DE1FEDD7-BC15-456D-9ABF-F04C9E36018F}"/>
              </a:ext>
            </a:extLst>
          </p:cNvPr>
          <p:cNvSpPr txBox="1"/>
          <p:nvPr/>
        </p:nvSpPr>
        <p:spPr>
          <a:xfrm>
            <a:off x="0" y="956603"/>
            <a:ext cx="9228406" cy="7017306"/>
          </a:xfrm>
          <a:prstGeom prst="rect">
            <a:avLst/>
          </a:prstGeom>
          <a:noFill/>
        </p:spPr>
        <p:txBody>
          <a:bodyPr wrap="square" rtlCol="0">
            <a:spAutoFit/>
          </a:bodyPr>
          <a:lstStyle/>
          <a:p>
            <a:r>
              <a:rPr lang="en-US" altLang="zh-CN" dirty="0"/>
              <a:t>The parallel version of last one.</a:t>
            </a:r>
          </a:p>
          <a:p>
            <a:endParaRPr lang="en-US" altLang="zh-CN" dirty="0"/>
          </a:p>
          <a:p>
            <a:r>
              <a:rPr lang="en-US" altLang="zh-CN" dirty="0"/>
              <a:t>Project the queries, keys and values to certain dimensions before calculating the attention.</a:t>
            </a:r>
          </a:p>
          <a:p>
            <a:r>
              <a:rPr lang="en-US" altLang="zh-CN" dirty="0"/>
              <a:t> </a:t>
            </a:r>
          </a:p>
          <a:p>
            <a:r>
              <a:rPr lang="en-US" altLang="zh-CN" dirty="0"/>
              <a:t>Because there are 8 parallel units, the number of dimension will be divided by eight  after projection.</a:t>
            </a:r>
          </a:p>
          <a:p>
            <a:endParaRPr lang="en-US" altLang="zh-CN" dirty="0"/>
          </a:p>
          <a:p>
            <a:r>
              <a:rPr lang="en-US" altLang="zh-CN" dirty="0"/>
              <a:t>After the attention calculation, the result of each parallel attention will be concated together</a:t>
            </a:r>
          </a:p>
          <a:p>
            <a:endParaRPr lang="en-US" altLang="zh-CN" dirty="0"/>
          </a:p>
          <a:p>
            <a:r>
              <a:rPr lang="en-US" altLang="zh-CN" dirty="0"/>
              <a:t>After the concat of each parallel unit ,  there will be another linearly project to project the result to certain dimension.</a:t>
            </a:r>
          </a:p>
          <a:p>
            <a:endParaRPr lang="en-US" altLang="zh-CN" dirty="0"/>
          </a:p>
          <a:p>
            <a:endParaRPr lang="en-US" altLang="zh-CN" dirty="0"/>
          </a:p>
          <a:p>
            <a:r>
              <a:rPr lang="en-US" altLang="zh-CN" dirty="0"/>
              <a:t>Self-attention layer: the keys ,queues and values come from the same place.</a:t>
            </a:r>
          </a:p>
          <a:p>
            <a:endParaRPr lang="en-US" altLang="zh-CN" dirty="0"/>
          </a:p>
          <a:p>
            <a:r>
              <a:rPr lang="en-US" altLang="zh-CN" dirty="0"/>
              <a:t>Cross-attention layer: the queries and keys come from different places.</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2129940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F7A238-9038-4B20-8145-19821BD3CD40}"/>
              </a:ext>
            </a:extLst>
          </p:cNvPr>
          <p:cNvSpPr>
            <a:spLocks noGrp="1"/>
          </p:cNvSpPr>
          <p:nvPr>
            <p:ph idx="1"/>
          </p:nvPr>
        </p:nvSpPr>
        <p:spPr>
          <a:xfrm>
            <a:off x="0" y="897157"/>
            <a:ext cx="11676185" cy="4351338"/>
          </a:xfrm>
        </p:spPr>
        <p:txBody>
          <a:bodyPr/>
          <a:lstStyle/>
          <a:p>
            <a:pPr marL="0" indent="0">
              <a:buNone/>
            </a:pPr>
            <a:endParaRPr lang="en-US" altLang="zh-CN" dirty="0"/>
          </a:p>
          <a:p>
            <a:endParaRPr lang="en-US" altLang="zh-CN" dirty="0"/>
          </a:p>
          <a:p>
            <a:pPr marL="0" indent="0">
              <a:buNone/>
            </a:pPr>
            <a:r>
              <a:rPr lang="en-US" altLang="zh-CN" dirty="0"/>
              <a:t>  </a:t>
            </a:r>
            <a:endParaRPr lang="zh-CN" altLang="en-US" dirty="0"/>
          </a:p>
        </p:txBody>
      </p:sp>
      <p:sp>
        <p:nvSpPr>
          <p:cNvPr id="6" name="文本框 5">
            <a:extLst>
              <a:ext uri="{FF2B5EF4-FFF2-40B4-BE49-F238E27FC236}">
                <a16:creationId xmlns:a16="http://schemas.microsoft.com/office/drawing/2014/main" id="{A9368672-B5D6-4858-B98C-7C20B3B9C955}"/>
              </a:ext>
            </a:extLst>
          </p:cNvPr>
          <p:cNvSpPr txBox="1"/>
          <p:nvPr/>
        </p:nvSpPr>
        <p:spPr>
          <a:xfrm>
            <a:off x="0" y="0"/>
            <a:ext cx="7784119" cy="7786747"/>
          </a:xfrm>
          <a:prstGeom prst="rect">
            <a:avLst/>
          </a:prstGeom>
          <a:noFill/>
        </p:spPr>
        <p:txBody>
          <a:bodyPr wrap="square" rtlCol="0">
            <a:spAutoFit/>
          </a:bodyPr>
          <a:lstStyle/>
          <a:p>
            <a:r>
              <a:rPr lang="en-US" altLang="zh-CN" sz="3200" dirty="0"/>
              <a:t>The architect of encoder</a:t>
            </a:r>
            <a:r>
              <a:rPr lang="en-US" altLang="zh-CN" dirty="0"/>
              <a:t>:</a:t>
            </a:r>
          </a:p>
          <a:p>
            <a:endParaRPr lang="en-US" altLang="zh-CN" dirty="0"/>
          </a:p>
          <a:p>
            <a:r>
              <a:rPr lang="en-US" altLang="zh-CN" dirty="0"/>
              <a:t>The encoder is composed of a stack of N=6 identical layers.</a:t>
            </a:r>
          </a:p>
          <a:p>
            <a:endParaRPr lang="en-US" altLang="zh-CN" dirty="0"/>
          </a:p>
          <a:p>
            <a:r>
              <a:rPr lang="en-US" altLang="zh-CN" dirty="0"/>
              <a:t>Each layer has two sub-layers.</a:t>
            </a:r>
          </a:p>
          <a:p>
            <a:endParaRPr lang="en-US" altLang="zh-CN" dirty="0"/>
          </a:p>
          <a:p>
            <a:r>
              <a:rPr lang="en-US" altLang="zh-CN" dirty="0"/>
              <a:t>The first is a multi-head self-attention mechanism, and the second is a simple, position-wise fully connected feed-forward network.</a:t>
            </a:r>
          </a:p>
          <a:p>
            <a:endParaRPr lang="en-US" altLang="zh-CN" dirty="0"/>
          </a:p>
          <a:p>
            <a:r>
              <a:rPr lang="en-US" altLang="zh-CN" dirty="0"/>
              <a:t>The author employ a residual connection around each of the two sub-layers, followed by layer normalization.</a:t>
            </a:r>
          </a:p>
          <a:p>
            <a:endParaRPr lang="en-US" altLang="zh-CN" dirty="0"/>
          </a:p>
          <a:p>
            <a:r>
              <a:rPr lang="en-US" altLang="zh-CN" dirty="0"/>
              <a:t>The inputs are word vector matrix . Each word in the sentence is transformed to a vector.</a:t>
            </a:r>
          </a:p>
          <a:p>
            <a:endParaRPr lang="en-US" altLang="zh-CN" dirty="0"/>
          </a:p>
          <a:p>
            <a:r>
              <a:rPr lang="en-US" altLang="zh-CN" dirty="0"/>
              <a:t>Input Embedding is a linear transformation operation.</a:t>
            </a:r>
          </a:p>
          <a:p>
            <a:endParaRPr lang="en-US" altLang="zh-CN" dirty="0"/>
          </a:p>
          <a:p>
            <a:r>
              <a:rPr lang="en-US" altLang="zh-CN" dirty="0"/>
              <a:t>The positional encoding supply the information about the position of each word.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8" name="图片 7">
            <a:extLst>
              <a:ext uri="{FF2B5EF4-FFF2-40B4-BE49-F238E27FC236}">
                <a16:creationId xmlns:a16="http://schemas.microsoft.com/office/drawing/2014/main" id="{0935DD17-7FDF-44AE-B512-D4E607E2E617}"/>
              </a:ext>
            </a:extLst>
          </p:cNvPr>
          <p:cNvPicPr>
            <a:picLocks noChangeAspect="1"/>
          </p:cNvPicPr>
          <p:nvPr/>
        </p:nvPicPr>
        <p:blipFill>
          <a:blip r:embed="rId2"/>
          <a:stretch>
            <a:fillRect/>
          </a:stretch>
        </p:blipFill>
        <p:spPr>
          <a:xfrm>
            <a:off x="9846035" y="280624"/>
            <a:ext cx="1933845" cy="4067743"/>
          </a:xfrm>
          <a:prstGeom prst="rect">
            <a:avLst/>
          </a:prstGeom>
        </p:spPr>
      </p:pic>
      <p:pic>
        <p:nvPicPr>
          <p:cNvPr id="10" name="图片 9">
            <a:extLst>
              <a:ext uri="{FF2B5EF4-FFF2-40B4-BE49-F238E27FC236}">
                <a16:creationId xmlns:a16="http://schemas.microsoft.com/office/drawing/2014/main" id="{75D8A61F-5291-4229-95ED-44B73D8637F9}"/>
              </a:ext>
            </a:extLst>
          </p:cNvPr>
          <p:cNvPicPr>
            <a:picLocks noChangeAspect="1"/>
          </p:cNvPicPr>
          <p:nvPr/>
        </p:nvPicPr>
        <p:blipFill>
          <a:blip r:embed="rId3"/>
          <a:stretch>
            <a:fillRect/>
          </a:stretch>
        </p:blipFill>
        <p:spPr>
          <a:xfrm>
            <a:off x="0" y="5696399"/>
            <a:ext cx="6705844" cy="1068188"/>
          </a:xfrm>
          <a:prstGeom prst="rect">
            <a:avLst/>
          </a:prstGeom>
        </p:spPr>
      </p:pic>
    </p:spTree>
    <p:extLst>
      <p:ext uri="{BB962C8B-B14F-4D97-AF65-F5344CB8AC3E}">
        <p14:creationId xmlns:p14="http://schemas.microsoft.com/office/powerpoint/2010/main" val="621309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9A1A3B-B29E-4306-829C-323E1A0BBB08}"/>
              </a:ext>
            </a:extLst>
          </p:cNvPr>
          <p:cNvSpPr>
            <a:spLocks noGrp="1"/>
          </p:cNvSpPr>
          <p:nvPr>
            <p:ph type="title"/>
          </p:nvPr>
        </p:nvSpPr>
        <p:spPr>
          <a:xfrm>
            <a:off x="0" y="1"/>
            <a:ext cx="10515600" cy="678729"/>
          </a:xfrm>
        </p:spPr>
        <p:txBody>
          <a:bodyPr/>
          <a:lstStyle/>
          <a:p>
            <a:r>
              <a:rPr lang="en-US" altLang="zh-CN" sz="3200" dirty="0">
                <a:latin typeface="+mn-lt"/>
                <a:ea typeface="+mn-ea"/>
                <a:cs typeface="+mn-cs"/>
              </a:rPr>
              <a:t>The architect of encoder:</a:t>
            </a:r>
            <a:endParaRPr lang="zh-CN" altLang="en-US" sz="3200" dirty="0">
              <a:latin typeface="+mn-lt"/>
              <a:ea typeface="+mn-ea"/>
              <a:cs typeface="+mn-cs"/>
            </a:endParaRPr>
          </a:p>
        </p:txBody>
      </p:sp>
      <p:sp>
        <p:nvSpPr>
          <p:cNvPr id="3" name="内容占位符 2">
            <a:extLst>
              <a:ext uri="{FF2B5EF4-FFF2-40B4-BE49-F238E27FC236}">
                <a16:creationId xmlns:a16="http://schemas.microsoft.com/office/drawing/2014/main" id="{6710AFAA-761A-4ECE-9DCB-3D822C1FCFA7}"/>
              </a:ext>
            </a:extLst>
          </p:cNvPr>
          <p:cNvSpPr>
            <a:spLocks noGrp="1"/>
          </p:cNvSpPr>
          <p:nvPr>
            <p:ph idx="1"/>
          </p:nvPr>
        </p:nvSpPr>
        <p:spPr>
          <a:xfrm>
            <a:off x="0" y="1025863"/>
            <a:ext cx="9304256" cy="5832136"/>
          </a:xfrm>
        </p:spPr>
        <p:txBody>
          <a:bodyPr>
            <a:normAutofit/>
          </a:bodyPr>
          <a:lstStyle/>
          <a:p>
            <a:pPr marL="0" indent="0">
              <a:buNone/>
            </a:pPr>
            <a:r>
              <a:rPr lang="en-US" altLang="zh-CN" sz="1800" dirty="0"/>
              <a:t>The  Q,V,F inputs for Multi-Head Attention are same, the attention mechanism renew the input matrix based on the correlation of each vector.</a:t>
            </a:r>
          </a:p>
          <a:p>
            <a:pPr marL="0" indent="0">
              <a:buNone/>
            </a:pPr>
            <a:endParaRPr lang="en-US" altLang="zh-CN" sz="1800" dirty="0"/>
          </a:p>
          <a:p>
            <a:pPr marL="0" indent="0">
              <a:buNone/>
            </a:pPr>
            <a:r>
              <a:rPr lang="en-US" altLang="zh-CN" sz="1800" dirty="0"/>
              <a:t>The self attention layer help each word find the relationship with others in one sentence. In other word, it can help the whole model understand the word’s dependence in certain sentence .</a:t>
            </a:r>
          </a:p>
          <a:p>
            <a:pPr marL="0" indent="0">
              <a:buNone/>
            </a:pPr>
            <a:endParaRPr lang="en-US" altLang="zh-CN" sz="1800" dirty="0"/>
          </a:p>
          <a:p>
            <a:pPr marL="0" indent="0">
              <a:buNone/>
            </a:pPr>
            <a:r>
              <a:rPr lang="en-US" altLang="zh-CN" sz="1800" dirty="0"/>
              <a:t>The feed forward neural network is responsible for encoding the matrix in each layers. Since other modules are only linear projection and neural network can bring non-linear transform.</a:t>
            </a:r>
          </a:p>
          <a:p>
            <a:pPr marL="0" indent="0">
              <a:buNone/>
            </a:pPr>
            <a:endParaRPr lang="en-US" altLang="zh-CN" sz="1800" dirty="0"/>
          </a:p>
          <a:p>
            <a:pPr marL="0" indent="0">
              <a:buNone/>
            </a:pPr>
            <a:r>
              <a:rPr lang="en-US" altLang="zh-CN" sz="1800" dirty="0"/>
              <a:t>There are six identical encoding layers. All the attention mechanism in encoding layers are self-attention.</a:t>
            </a:r>
          </a:p>
          <a:p>
            <a:pPr marL="0" indent="0">
              <a:buNone/>
            </a:pPr>
            <a:endParaRPr lang="en-US" altLang="zh-CN" sz="1800" dirty="0"/>
          </a:p>
          <a:p>
            <a:pPr marL="0" indent="0">
              <a:buNone/>
            </a:pPr>
            <a:r>
              <a:rPr lang="en-US" altLang="zh-CN" sz="1800" dirty="0"/>
              <a:t>The residual network can help avoid the vanish gradient in deep network. </a:t>
            </a:r>
            <a:endParaRPr lang="zh-CN" altLang="en-US" sz="1800" dirty="0"/>
          </a:p>
        </p:txBody>
      </p:sp>
      <p:pic>
        <p:nvPicPr>
          <p:cNvPr id="4" name="图片 3">
            <a:extLst>
              <a:ext uri="{FF2B5EF4-FFF2-40B4-BE49-F238E27FC236}">
                <a16:creationId xmlns:a16="http://schemas.microsoft.com/office/drawing/2014/main" id="{20850AA0-A6EE-4D73-89A3-64E3F71BF728}"/>
              </a:ext>
            </a:extLst>
          </p:cNvPr>
          <p:cNvPicPr>
            <a:picLocks noChangeAspect="1"/>
          </p:cNvPicPr>
          <p:nvPr/>
        </p:nvPicPr>
        <p:blipFill>
          <a:blip r:embed="rId2"/>
          <a:stretch>
            <a:fillRect/>
          </a:stretch>
        </p:blipFill>
        <p:spPr>
          <a:xfrm>
            <a:off x="9680653" y="1726687"/>
            <a:ext cx="1933845" cy="4067743"/>
          </a:xfrm>
          <a:prstGeom prst="rect">
            <a:avLst/>
          </a:prstGeom>
        </p:spPr>
      </p:pic>
    </p:spTree>
    <p:extLst>
      <p:ext uri="{BB962C8B-B14F-4D97-AF65-F5344CB8AC3E}">
        <p14:creationId xmlns:p14="http://schemas.microsoft.com/office/powerpoint/2010/main" val="342007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2FE731-0FE4-4EE4-B0D4-F3090D7FDA10}"/>
              </a:ext>
            </a:extLst>
          </p:cNvPr>
          <p:cNvSpPr>
            <a:spLocks noGrp="1"/>
          </p:cNvSpPr>
          <p:nvPr>
            <p:ph type="title"/>
          </p:nvPr>
        </p:nvSpPr>
        <p:spPr>
          <a:xfrm>
            <a:off x="0" y="0"/>
            <a:ext cx="10515600" cy="735291"/>
          </a:xfrm>
        </p:spPr>
        <p:txBody>
          <a:bodyPr>
            <a:normAutofit/>
          </a:bodyPr>
          <a:lstStyle/>
          <a:p>
            <a:r>
              <a:rPr lang="en-US" altLang="zh-CN" sz="3200" dirty="0">
                <a:latin typeface="+mn-lt"/>
                <a:ea typeface="+mn-ea"/>
                <a:cs typeface="+mn-cs"/>
              </a:rPr>
              <a:t>The architect of decoder</a:t>
            </a:r>
            <a:r>
              <a:rPr lang="en-US" altLang="zh-CN" sz="3600" dirty="0">
                <a:latin typeface="+mn-lt"/>
                <a:ea typeface="+mn-ea"/>
                <a:cs typeface="+mn-cs"/>
              </a:rPr>
              <a:t>:</a:t>
            </a:r>
            <a:endParaRPr lang="zh-CN" altLang="en-US" sz="3600" dirty="0"/>
          </a:p>
        </p:txBody>
      </p:sp>
      <p:pic>
        <p:nvPicPr>
          <p:cNvPr id="5" name="内容占位符 4">
            <a:extLst>
              <a:ext uri="{FF2B5EF4-FFF2-40B4-BE49-F238E27FC236}">
                <a16:creationId xmlns:a16="http://schemas.microsoft.com/office/drawing/2014/main" id="{060709DE-57AD-4849-BF44-B241B715A909}"/>
              </a:ext>
            </a:extLst>
          </p:cNvPr>
          <p:cNvPicPr>
            <a:picLocks noGrp="1" noChangeAspect="1"/>
          </p:cNvPicPr>
          <p:nvPr>
            <p:ph idx="1"/>
          </p:nvPr>
        </p:nvPicPr>
        <p:blipFill>
          <a:blip r:embed="rId2"/>
          <a:stretch>
            <a:fillRect/>
          </a:stretch>
        </p:blipFill>
        <p:spPr>
          <a:xfrm>
            <a:off x="10013717" y="735291"/>
            <a:ext cx="1736006" cy="5001353"/>
          </a:xfrm>
        </p:spPr>
      </p:pic>
      <p:sp>
        <p:nvSpPr>
          <p:cNvPr id="9" name="文本框 8">
            <a:extLst>
              <a:ext uri="{FF2B5EF4-FFF2-40B4-BE49-F238E27FC236}">
                <a16:creationId xmlns:a16="http://schemas.microsoft.com/office/drawing/2014/main" id="{177C8347-92C4-4055-BC48-99F3FAAFCA89}"/>
              </a:ext>
            </a:extLst>
          </p:cNvPr>
          <p:cNvSpPr txBox="1"/>
          <p:nvPr/>
        </p:nvSpPr>
        <p:spPr>
          <a:xfrm>
            <a:off x="0" y="605703"/>
            <a:ext cx="7607431" cy="6740307"/>
          </a:xfrm>
          <a:prstGeom prst="rect">
            <a:avLst/>
          </a:prstGeom>
          <a:noFill/>
        </p:spPr>
        <p:txBody>
          <a:bodyPr wrap="square" rtlCol="0">
            <a:spAutoFit/>
          </a:bodyPr>
          <a:lstStyle/>
          <a:p>
            <a:r>
              <a:rPr lang="en-US" altLang="zh-CN" dirty="0"/>
              <a:t>The decoder is also composed of 6 identical layers.</a:t>
            </a:r>
          </a:p>
          <a:p>
            <a:endParaRPr lang="en-US" altLang="zh-CN" dirty="0"/>
          </a:p>
          <a:p>
            <a:r>
              <a:rPr lang="en-US" altLang="zh-CN" dirty="0"/>
              <a:t>The former one’s output will be used as the input for next layer. </a:t>
            </a:r>
          </a:p>
          <a:p>
            <a:endParaRPr lang="en-US" altLang="zh-CN" dirty="0"/>
          </a:p>
          <a:p>
            <a:r>
              <a:rPr lang="en-US" altLang="zh-CN" dirty="0"/>
              <a:t>The embedding and positional parts are almost the same as the encoder. </a:t>
            </a:r>
          </a:p>
          <a:p>
            <a:endParaRPr lang="en-US" altLang="zh-CN" dirty="0"/>
          </a:p>
          <a:p>
            <a:r>
              <a:rPr lang="en-US" altLang="zh-CN" dirty="0"/>
              <a:t>The Masked Multi-Head Attention can avoid bringing the dependence on later words for present one.  The former outputs are the vector matrix for former output sentence. Like the self attention part in encoder, it can </a:t>
            </a:r>
            <a:r>
              <a:rPr lang="en-US" altLang="zh-CN" sz="1800" dirty="0"/>
              <a:t>renew the input matrix based on the correlation of each vector. </a:t>
            </a:r>
          </a:p>
          <a:p>
            <a:endParaRPr lang="en-US" altLang="zh-CN" dirty="0"/>
          </a:p>
          <a:p>
            <a:r>
              <a:rPr lang="en-US" altLang="zh-CN" dirty="0"/>
              <a:t>The Multi-Head Attention’s key and value come from the encoder and queries come from the decoder. It is cross-attention. The Multi-head attention can help the model find the relationship between words from the words’ dependence in last sentence.</a:t>
            </a:r>
          </a:p>
          <a:p>
            <a:endParaRPr lang="en-US" altLang="zh-CN" dirty="0"/>
          </a:p>
          <a:p>
            <a:r>
              <a:rPr lang="en-US" altLang="zh-CN" dirty="0"/>
              <a:t>The output probability is the translation probability for each word.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3087710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D6C5F4-CEE2-40C0-AAA7-5B469754C95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DADD5DA-38D8-4D45-9510-922A0CBB5C52}"/>
              </a:ext>
            </a:extLst>
          </p:cNvPr>
          <p:cNvSpPr>
            <a:spLocks noGrp="1"/>
          </p:cNvSpPr>
          <p:nvPr>
            <p:ph idx="1"/>
          </p:nvPr>
        </p:nvSpPr>
        <p:spPr/>
        <p:txBody>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 	  DETR(End-to-End Object Detection with Transformers)</a:t>
            </a:r>
            <a:endParaRPr lang="zh-CN" altLang="en-US" dirty="0"/>
          </a:p>
        </p:txBody>
      </p:sp>
    </p:spTree>
    <p:extLst>
      <p:ext uri="{BB962C8B-B14F-4D97-AF65-F5344CB8AC3E}">
        <p14:creationId xmlns:p14="http://schemas.microsoft.com/office/powerpoint/2010/main" val="252701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7CD3E53-D0D1-4407-984C-84B808B8116A}"/>
              </a:ext>
            </a:extLst>
          </p:cNvPr>
          <p:cNvSpPr txBox="1"/>
          <p:nvPr/>
        </p:nvSpPr>
        <p:spPr>
          <a:xfrm>
            <a:off x="-65988" y="0"/>
            <a:ext cx="10001839" cy="369332"/>
          </a:xfrm>
          <a:prstGeom prst="rect">
            <a:avLst/>
          </a:prstGeom>
          <a:noFill/>
        </p:spPr>
        <p:txBody>
          <a:bodyPr wrap="square" rtlCol="0">
            <a:spAutoFit/>
          </a:bodyPr>
          <a:lstStyle/>
          <a:p>
            <a:r>
              <a:rPr lang="en-US" altLang="zh-CN" sz="1800" dirty="0"/>
              <a:t>Backbone-Transformer-Final Detect </a:t>
            </a:r>
            <a:endParaRPr lang="zh-CN" altLang="en-US" dirty="0"/>
          </a:p>
        </p:txBody>
      </p:sp>
      <p:sp>
        <p:nvSpPr>
          <p:cNvPr id="15" name="文本框 14">
            <a:extLst>
              <a:ext uri="{FF2B5EF4-FFF2-40B4-BE49-F238E27FC236}">
                <a16:creationId xmlns:a16="http://schemas.microsoft.com/office/drawing/2014/main" id="{9D035255-3D51-40C5-889A-0BCC26EC0A74}"/>
              </a:ext>
            </a:extLst>
          </p:cNvPr>
          <p:cNvSpPr txBox="1"/>
          <p:nvPr/>
        </p:nvSpPr>
        <p:spPr>
          <a:xfrm>
            <a:off x="0" y="471658"/>
            <a:ext cx="11943761" cy="4524315"/>
          </a:xfrm>
          <a:prstGeom prst="rect">
            <a:avLst/>
          </a:prstGeom>
          <a:noFill/>
        </p:spPr>
        <p:txBody>
          <a:bodyPr wrap="square" rtlCol="0">
            <a:spAutoFit/>
          </a:bodyPr>
          <a:lstStyle/>
          <a:p>
            <a:r>
              <a:rPr lang="en-US" altLang="zh-CN" dirty="0"/>
              <a:t>CNN extract the features from the image and import the features to transformer. The output of the transformer will be </a:t>
            </a:r>
          </a:p>
          <a:p>
            <a:r>
              <a:rPr lang="en-US" altLang="zh-CN" dirty="0"/>
              <a:t>imported into two different FFN to get class label and the coordinate of bounding box. </a:t>
            </a:r>
          </a:p>
          <a:p>
            <a:endParaRPr lang="en-US" altLang="zh-CN" dirty="0"/>
          </a:p>
          <a:p>
            <a:r>
              <a:rPr lang="en-US" altLang="zh-CN" dirty="0"/>
              <a:t>CNN backbone will generate a lower resolution feature map with  2048 channels, there will be a 1X1 convolution to reduce the channels before entering into the encoder and the feature maps will be flattened and become a matrix.</a:t>
            </a:r>
          </a:p>
          <a:p>
            <a:endParaRPr lang="en-US" altLang="zh-CN" dirty="0"/>
          </a:p>
          <a:p>
            <a:r>
              <a:rPr lang="en-US" altLang="zh-CN" dirty="0"/>
              <a:t>The architect is end-to-end, in my opinion end to end means you can directly get the class label of certain object in the image without post-treatment.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pic>
        <p:nvPicPr>
          <p:cNvPr id="19" name="内容占位符 18">
            <a:extLst>
              <a:ext uri="{FF2B5EF4-FFF2-40B4-BE49-F238E27FC236}">
                <a16:creationId xmlns:a16="http://schemas.microsoft.com/office/drawing/2014/main" id="{45B1D77F-BE13-4B4F-902A-4EF3F7370917}"/>
              </a:ext>
            </a:extLst>
          </p:cNvPr>
          <p:cNvPicPr>
            <a:picLocks noGrp="1" noChangeAspect="1"/>
          </p:cNvPicPr>
          <p:nvPr>
            <p:ph idx="1"/>
          </p:nvPr>
        </p:nvPicPr>
        <p:blipFill>
          <a:blip r:embed="rId2"/>
          <a:stretch>
            <a:fillRect/>
          </a:stretch>
        </p:blipFill>
        <p:spPr>
          <a:xfrm>
            <a:off x="1351472" y="4192222"/>
            <a:ext cx="9639885" cy="2665778"/>
          </a:xfrm>
        </p:spPr>
      </p:pic>
    </p:spTree>
    <p:extLst>
      <p:ext uri="{BB962C8B-B14F-4D97-AF65-F5344CB8AC3E}">
        <p14:creationId xmlns:p14="http://schemas.microsoft.com/office/powerpoint/2010/main" val="24872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EAEE0EBA-E64B-45BB-BA86-C0907F30BBB3}"/>
              </a:ext>
            </a:extLst>
          </p:cNvPr>
          <p:cNvPicPr>
            <a:picLocks noGrp="1" noChangeAspect="1"/>
          </p:cNvPicPr>
          <p:nvPr>
            <p:ph idx="1"/>
          </p:nvPr>
        </p:nvPicPr>
        <p:blipFill>
          <a:blip r:embed="rId2"/>
          <a:stretch>
            <a:fillRect/>
          </a:stretch>
        </p:blipFill>
        <p:spPr>
          <a:xfrm>
            <a:off x="6466234" y="2404626"/>
            <a:ext cx="5725766" cy="4453374"/>
          </a:xfrm>
        </p:spPr>
      </p:pic>
      <p:sp>
        <p:nvSpPr>
          <p:cNvPr id="7" name="文本框 6">
            <a:extLst>
              <a:ext uri="{FF2B5EF4-FFF2-40B4-BE49-F238E27FC236}">
                <a16:creationId xmlns:a16="http://schemas.microsoft.com/office/drawing/2014/main" id="{DF50C804-E554-4C71-AE50-BAB65EF33D84}"/>
              </a:ext>
            </a:extLst>
          </p:cNvPr>
          <p:cNvSpPr txBox="1"/>
          <p:nvPr/>
        </p:nvSpPr>
        <p:spPr>
          <a:xfrm>
            <a:off x="-923827" y="-1164458"/>
            <a:ext cx="6834433" cy="6186309"/>
          </a:xfrm>
          <a:prstGeom prst="rect">
            <a:avLst/>
          </a:prstGeom>
          <a:no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8" name="文本框 7">
            <a:extLst>
              <a:ext uri="{FF2B5EF4-FFF2-40B4-BE49-F238E27FC236}">
                <a16:creationId xmlns:a16="http://schemas.microsoft.com/office/drawing/2014/main" id="{B77B7312-C163-48FD-86AA-B4CD0C59CB87}"/>
              </a:ext>
            </a:extLst>
          </p:cNvPr>
          <p:cNvSpPr txBox="1"/>
          <p:nvPr/>
        </p:nvSpPr>
        <p:spPr>
          <a:xfrm>
            <a:off x="-1" y="0"/>
            <a:ext cx="7409469" cy="7017306"/>
          </a:xfrm>
          <a:prstGeom prst="rect">
            <a:avLst/>
          </a:prstGeom>
          <a:noFill/>
        </p:spPr>
        <p:txBody>
          <a:bodyPr wrap="square" rtlCol="0">
            <a:spAutoFit/>
          </a:bodyPr>
          <a:lstStyle/>
          <a:p>
            <a:r>
              <a:rPr lang="en-US" altLang="zh-CN" dirty="0"/>
              <a:t>The main structure of DETR is almost the same as transformer.</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0" name="文本框 9">
            <a:extLst>
              <a:ext uri="{FF2B5EF4-FFF2-40B4-BE49-F238E27FC236}">
                <a16:creationId xmlns:a16="http://schemas.microsoft.com/office/drawing/2014/main" id="{3C0E94C9-64FF-4AD1-8FC0-9C56DB538542}"/>
              </a:ext>
            </a:extLst>
          </p:cNvPr>
          <p:cNvSpPr txBox="1"/>
          <p:nvPr/>
        </p:nvSpPr>
        <p:spPr>
          <a:xfrm>
            <a:off x="0" y="567934"/>
            <a:ext cx="6400523" cy="5909310"/>
          </a:xfrm>
          <a:prstGeom prst="rect">
            <a:avLst/>
          </a:prstGeom>
          <a:noFill/>
        </p:spPr>
        <p:txBody>
          <a:bodyPr wrap="square" rtlCol="0">
            <a:spAutoFit/>
          </a:bodyPr>
          <a:lstStyle/>
          <a:p>
            <a:r>
              <a:rPr lang="en-US" altLang="zh-CN" dirty="0"/>
              <a:t>The spatial positional encoding are fixed embeddings.</a:t>
            </a:r>
          </a:p>
          <a:p>
            <a:endParaRPr lang="en-US" altLang="zh-CN" dirty="0"/>
          </a:p>
          <a:p>
            <a:endParaRPr lang="en-US" altLang="zh-CN" dirty="0"/>
          </a:p>
          <a:p>
            <a:r>
              <a:rPr lang="en-US" altLang="zh-CN" dirty="0"/>
              <a:t>The object queries are learned positional embeddings .The N object queries may refer to the coordinates of N different boxes.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But I still don’t know why the author need to double the Q and K of queries.</a:t>
            </a:r>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252783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9500EC-DE9B-4C9B-856E-A072110CD006}"/>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ABE918A9-8E06-4087-9287-C8CAA2BD320D}"/>
              </a:ext>
            </a:extLst>
          </p:cNvPr>
          <p:cNvSpPr>
            <a:spLocks noGrp="1"/>
          </p:cNvSpPr>
          <p:nvPr>
            <p:ph idx="1"/>
          </p:nvPr>
        </p:nvSpPr>
        <p:spPr>
          <a:xfrm>
            <a:off x="1" y="2972979"/>
            <a:ext cx="12191999" cy="901438"/>
          </a:xfrm>
        </p:spPr>
        <p:txBody>
          <a:bodyPr/>
          <a:lstStyle/>
          <a:p>
            <a:pPr marL="0" indent="0">
              <a:buNone/>
            </a:pPr>
            <a:r>
              <a:rPr lang="en-US" altLang="zh-CN" dirty="0"/>
              <a:t>DEFORMABLE DETR(DEFORMABLE DETR: DEFORMABLE TRANSFORMERS FOR END-TO-END OBJECT DETECTION)</a:t>
            </a:r>
            <a:endParaRPr lang="zh-CN" altLang="en-US" dirty="0"/>
          </a:p>
        </p:txBody>
      </p:sp>
    </p:spTree>
    <p:extLst>
      <p:ext uri="{BB962C8B-B14F-4D97-AF65-F5344CB8AC3E}">
        <p14:creationId xmlns:p14="http://schemas.microsoft.com/office/powerpoint/2010/main" val="38808850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TotalTime>
  <Words>874</Words>
  <Application>Microsoft Office PowerPoint</Application>
  <PresentationFormat>宽屏</PresentationFormat>
  <Paragraphs>193</Paragraphs>
  <Slides>13</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等线</vt:lpstr>
      <vt:lpstr>等线 Light</vt:lpstr>
      <vt:lpstr>Arial</vt:lpstr>
      <vt:lpstr>Office 主题​​</vt:lpstr>
      <vt:lpstr>A Summarize of the Transformer Study</vt:lpstr>
      <vt:lpstr>NEURAL MACHINE TRANSLATION BY JOINTLY LEARNING TO ALIGN AND TRANSLATE  ( ICLR 2015)</vt:lpstr>
      <vt:lpstr>How to get the Ci ?</vt:lpstr>
      <vt:lpstr>PowerPoint 演示文稿</vt:lpstr>
      <vt:lpstr> </vt:lpstr>
      <vt:lpstr>PowerPoint 演示文稿</vt:lpstr>
      <vt:lpstr>PowerPoint 演示文稿</vt:lpstr>
      <vt:lpstr>The architect of encoder:</vt:lpstr>
      <vt:lpstr>The architect of decoder:</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Summarize of the Transformer Study</dc:title>
  <dc:creator>Allen WANG</dc:creator>
  <cp:lastModifiedBy>Allen WANG</cp:lastModifiedBy>
  <cp:revision>50</cp:revision>
  <dcterms:created xsi:type="dcterms:W3CDTF">2021-03-07T03:53:34Z</dcterms:created>
  <dcterms:modified xsi:type="dcterms:W3CDTF">2021-03-07T16:39:36Z</dcterms:modified>
</cp:coreProperties>
</file>